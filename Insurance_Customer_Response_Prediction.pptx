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674" r:id="rId4"/>
    <p:sldId id="713" r:id="rId5"/>
    <p:sldId id="712" r:id="rId6"/>
    <p:sldId id="676" r:id="rId7"/>
    <p:sldId id="711"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latin typeface="Arial Black" panose="020B0A04020102020204" pitchFamily="34" charset="0"/>
              </a:rPr>
              <a:t>Insurance Customer </a:t>
            </a:r>
            <a:r>
              <a:rPr lang="en-IN" sz="3200">
                <a:latin typeface="Arial Black" panose="020B0A04020102020204" pitchFamily="34" charset="0"/>
              </a:rPr>
              <a:t>Response Prediction</a:t>
            </a:r>
            <a:endParaRPr lang="en-IN" sz="3200" dirty="0">
              <a:latin typeface="Arial Black" panose="020B0A0402010202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u="sng" dirty="0"/>
              <a:t>Problem Statement</a:t>
            </a:r>
            <a:endParaRPr lang="en-IN" u="sng"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pPr marL="0" indent="0">
              <a:buNone/>
            </a:pPr>
            <a:r>
              <a:rPr lang="en-US" dirty="0"/>
              <a:t>PROBLEM :</a:t>
            </a:r>
          </a:p>
          <a:p>
            <a:pPr marL="0" indent="0">
              <a:buNone/>
            </a:pPr>
            <a:r>
              <a:rPr lang="en-US" sz="1800" dirty="0"/>
              <a:t>The project addresses the challenge of customer response prediction in vehicle insurance marketing by leveraging machine learning to classify potential respondents, thereby enhancing campaign effectiveness and strategic sales planning.</a:t>
            </a:r>
          </a:p>
          <a:p>
            <a:pPr marL="0" indent="0">
              <a:buNone/>
            </a:pPr>
            <a:endParaRPr lang="en-US" dirty="0"/>
          </a:p>
          <a:p>
            <a:pPr marL="0" indent="0">
              <a:buNone/>
            </a:pPr>
            <a:r>
              <a:rPr lang="en-US" dirty="0"/>
              <a:t>GOAL :</a:t>
            </a:r>
          </a:p>
          <a:p>
            <a:pPr marL="0" indent="0">
              <a:buNone/>
            </a:pPr>
            <a:r>
              <a:rPr lang="en-US" sz="1800" dirty="0"/>
              <a:t>The primary goal of this project is to build a machine learning model that can accurately predict whether an insurance customer will respond to a vehicle insurance offer. By identifying customers who are more likely to show interest, the model helps insurance companies improve their marketing efficiency, reduce campaign costs, and focus efforts on high-potential customers.</a:t>
            </a:r>
          </a:p>
          <a:p>
            <a:pPr marL="0" indent="0">
              <a:buNone/>
            </a:pPr>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u="sng" dirty="0"/>
              <a:t>Business Questions</a:t>
            </a:r>
            <a:endParaRPr lang="en-IN" u="sng"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342900" indent="-342900">
              <a:buFont typeface="+mj-lt"/>
              <a:buAutoNum type="arabicPeriod"/>
            </a:pPr>
            <a:r>
              <a:rPr lang="en-US" sz="1800" b="1" dirty="0"/>
              <a:t>Which customers are most likely to respond positively to a vehicle insurance offer?</a:t>
            </a:r>
          </a:p>
          <a:p>
            <a:r>
              <a:rPr lang="en-US" sz="1800" dirty="0"/>
              <a:t>Customers who have: A vehicle damage history No previous insurance Middle-aged group (40–60 years) are more likely to respond.</a:t>
            </a:r>
          </a:p>
          <a:p>
            <a:pPr marL="0" indent="0">
              <a:buNone/>
            </a:pPr>
            <a:endParaRPr lang="en-US" sz="1800" dirty="0"/>
          </a:p>
          <a:p>
            <a:pPr marL="0" indent="0">
              <a:buNone/>
            </a:pPr>
            <a:r>
              <a:rPr lang="en-US" sz="1800" b="1" dirty="0"/>
              <a:t>2.   Can we predict customer response before launching a marketing campaign?</a:t>
            </a:r>
          </a:p>
          <a:p>
            <a:r>
              <a:rPr lang="en-US" sz="1800" dirty="0"/>
              <a:t>Yes. Your machine learning model predicts customer interest (Response 0/1) with good accuracy, enabling proactive targeting before contacting customers.</a:t>
            </a:r>
          </a:p>
          <a:p>
            <a:pPr marL="0" indent="0">
              <a:buNone/>
            </a:pPr>
            <a:endParaRPr lang="en-US" sz="1800" dirty="0"/>
          </a:p>
          <a:p>
            <a:pPr marL="0" indent="0">
              <a:buNone/>
            </a:pPr>
            <a:r>
              <a:rPr lang="en-US" sz="1800" b="1" dirty="0"/>
              <a:t>3.    How can the insurance company reduce marketing costs?</a:t>
            </a:r>
          </a:p>
          <a:p>
            <a:r>
              <a:rPr lang="en-US" sz="1800" dirty="0"/>
              <a:t>By: Targeting customers predicted as high-probability responders.</a:t>
            </a:r>
          </a:p>
          <a:p>
            <a:pPr marL="0" indent="0">
              <a:buNone/>
            </a:pPr>
            <a:endParaRPr lang="en-US" sz="1800" dirty="0"/>
          </a:p>
          <a:p>
            <a:pPr marL="0" indent="0">
              <a:buNone/>
            </a:pPr>
            <a:r>
              <a:rPr lang="en-US" sz="1800" b="1" dirty="0"/>
              <a:t>4.    How does previous insurance status affect likelihood of responding?</a:t>
            </a:r>
          </a:p>
          <a:p>
            <a:r>
              <a:rPr lang="en-US" sz="1800" dirty="0"/>
              <a:t>Customers without prior insurance show higher interest in purchasing insurance, making them stronger leads.</a:t>
            </a:r>
          </a:p>
          <a:p>
            <a:pPr marL="0" indent="0">
              <a:buNone/>
            </a:pPr>
            <a:endParaRPr lang="en-US" sz="1800" dirty="0"/>
          </a:p>
          <a:p>
            <a:pPr marL="0" indent="0">
              <a:buNone/>
            </a:pPr>
            <a:endParaRPr lang="en-US" sz="1800" b="1" dirty="0"/>
          </a:p>
          <a:p>
            <a:pPr marL="0" indent="0">
              <a:buNone/>
            </a:pPr>
            <a:endParaRPr lang="en-US" sz="1800" b="1" dirty="0"/>
          </a:p>
          <a:p>
            <a:endParaRPr lang="en-US" sz="1800"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US" u="sng" dirty="0"/>
              <a:t>Dataset Overview</a:t>
            </a:r>
            <a:endParaRPr lang="en-IN" u="sng" dirty="0"/>
          </a:p>
        </p:txBody>
      </p:sp>
      <p:sp>
        <p:nvSpPr>
          <p:cNvPr id="2" name="Content Placeholder 1">
            <a:extLst>
              <a:ext uri="{FF2B5EF4-FFF2-40B4-BE49-F238E27FC236}">
                <a16:creationId xmlns:a16="http://schemas.microsoft.com/office/drawing/2014/main" id="{22A46528-95B1-7CC2-8D71-7CA5AAB5BEE3}"/>
              </a:ext>
            </a:extLst>
          </p:cNvPr>
          <p:cNvSpPr>
            <a:spLocks noGrp="1" noChangeArrowheads="1"/>
          </p:cNvSpPr>
          <p:nvPr>
            <p:ph idx="1"/>
          </p:nvPr>
        </p:nvSpPr>
        <p:spPr bwMode="auto">
          <a:xfrm>
            <a:off x="289782" y="1220306"/>
            <a:ext cx="549633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Dataset contains customer demographics and vehicle details used to predict insurance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~380K records with </a:t>
            </a:r>
            <a:r>
              <a:rPr kumimoji="0" lang="en-US" altLang="en-US" sz="1800" i="0" u="none" strike="noStrike" cap="none" normalizeH="0" baseline="0" dirty="0">
                <a:ln>
                  <a:noFill/>
                </a:ln>
                <a:solidFill>
                  <a:schemeClr val="tx1"/>
                </a:solidFill>
                <a:effectLst/>
                <a:latin typeface="Arial" panose="020B0604020202020204" pitchFamily="34" charset="0"/>
              </a:rPr>
              <a:t>12 input features and 1 target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Features include </a:t>
            </a:r>
            <a:r>
              <a:rPr kumimoji="0" lang="en-US" altLang="en-US" sz="1800" i="0" u="none" strike="noStrike" cap="none" normalizeH="0" baseline="0" dirty="0">
                <a:ln>
                  <a:noFill/>
                </a:ln>
                <a:solidFill>
                  <a:schemeClr val="tx1"/>
                </a:solidFill>
                <a:effectLst/>
                <a:latin typeface="Arial" panose="020B0604020202020204" pitchFamily="34" charset="0"/>
              </a:rPr>
              <a:t>Age, Vehicle Damage, Vehicle Age, Premium, Region</a:t>
            </a:r>
            <a:r>
              <a:rPr kumimoji="0" lang="en-US" altLang="en-US" sz="1800" b="0" i="0" u="none" strike="noStrike" cap="none" normalizeH="0" baseline="0" dirty="0">
                <a:ln>
                  <a:noFill/>
                </a:ln>
                <a:solidFill>
                  <a:schemeClr val="tx1"/>
                </a:solidFill>
                <a:effectLst/>
                <a:latin typeface="Arial" panose="020B0604020202020204" pitchFamily="34" charset="0"/>
              </a:rPr>
              <a:t>, etc.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Target is </a:t>
            </a:r>
            <a:r>
              <a:rPr kumimoji="0" lang="en-US" altLang="en-US" sz="1800" i="0" u="none" strike="noStrike" cap="none" normalizeH="0" baseline="0" dirty="0">
                <a:ln>
                  <a:noFill/>
                </a:ln>
                <a:solidFill>
                  <a:schemeClr val="tx1"/>
                </a:solidFill>
                <a:effectLst/>
                <a:latin typeface="Arial" panose="020B0604020202020204" pitchFamily="34" charset="0"/>
              </a:rPr>
              <a:t>binary</a:t>
            </a:r>
            <a:r>
              <a:rPr kumimoji="0" lang="en-US" altLang="en-US" sz="1800" b="0" i="0" u="none" strike="noStrike" cap="none" normalizeH="0" baseline="0" dirty="0">
                <a:ln>
                  <a:noFill/>
                </a:ln>
                <a:solidFill>
                  <a:schemeClr val="tx1"/>
                </a:solidFill>
                <a:effectLst/>
                <a:latin typeface="Arial" panose="020B0604020202020204" pitchFamily="34" charset="0"/>
              </a:rPr>
              <a:t>: 1 = Interested, 0 = Not Interested.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5.   Data is </a:t>
            </a:r>
            <a:r>
              <a:rPr kumimoji="0" lang="en-US" altLang="en-US" sz="1800" i="0" u="none" strike="noStrike" cap="none" normalizeH="0" baseline="0" dirty="0">
                <a:ln>
                  <a:noFill/>
                </a:ln>
                <a:solidFill>
                  <a:schemeClr val="tx1"/>
                </a:solidFill>
                <a:effectLst/>
                <a:latin typeface="Arial" panose="020B0604020202020204" pitchFamily="34" charset="0"/>
              </a:rPr>
              <a:t>imbalanced</a:t>
            </a:r>
            <a:r>
              <a:rPr kumimoji="0" lang="en-US" altLang="en-US" sz="1800" b="0" i="0" u="none" strike="noStrike" cap="none" normalizeH="0" baseline="0" dirty="0">
                <a:ln>
                  <a:noFill/>
                </a:ln>
                <a:solidFill>
                  <a:schemeClr val="tx1"/>
                </a:solidFill>
                <a:effectLst/>
                <a:latin typeface="Arial" panose="020B0604020202020204" pitchFamily="34" charset="0"/>
              </a:rPr>
              <a:t> with more customers not responding.</a:t>
            </a:r>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US" u="sng" dirty="0"/>
              <a:t>Methodology</a:t>
            </a:r>
            <a:endParaRPr lang="en-IN" u="sng" dirty="0"/>
          </a:p>
        </p:txBody>
      </p:sp>
      <p:sp>
        <p:nvSpPr>
          <p:cNvPr id="2" name="Content Placeholder 1">
            <a:extLst>
              <a:ext uri="{FF2B5EF4-FFF2-40B4-BE49-F238E27FC236}">
                <a16:creationId xmlns:a16="http://schemas.microsoft.com/office/drawing/2014/main" id="{0B8CDEAA-7BEE-5B26-331A-B403295D8152}"/>
              </a:ext>
            </a:extLst>
          </p:cNvPr>
          <p:cNvSpPr>
            <a:spLocks noGrp="1" noChangeArrowheads="1"/>
          </p:cNvSpPr>
          <p:nvPr>
            <p:ph idx="1"/>
          </p:nvPr>
        </p:nvSpPr>
        <p:spPr bwMode="auto">
          <a:xfrm>
            <a:off x="4455269" y="2150711"/>
            <a:ext cx="678493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Preprocessed and explored customer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Engineered features and handled class imbalance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Split data into train and test sets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Trained multiple ML models to predict customer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Evaluated models using accuracy and ROC-AUC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Selected the best-performing model for deployment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u="sng" dirty="0"/>
              <a:t>Results &amp; Insights</a:t>
            </a:r>
            <a:endParaRPr lang="en-US" u="sng" dirty="0"/>
          </a:p>
        </p:txBody>
      </p:sp>
      <p:sp>
        <p:nvSpPr>
          <p:cNvPr id="3" name="Rectangle 1">
            <a:extLst>
              <a:ext uri="{FF2B5EF4-FFF2-40B4-BE49-F238E27FC236}">
                <a16:creationId xmlns:a16="http://schemas.microsoft.com/office/drawing/2014/main" id="{38F404B6-C44C-CF41-0752-42D3C8771AC7}"/>
              </a:ext>
            </a:extLst>
          </p:cNvPr>
          <p:cNvSpPr>
            <a:spLocks noGrp="1" noChangeArrowheads="1"/>
          </p:cNvSpPr>
          <p:nvPr>
            <p:ph idx="1"/>
          </p:nvPr>
        </p:nvSpPr>
        <p:spPr bwMode="auto">
          <a:xfrm>
            <a:off x="539736" y="1477556"/>
            <a:ext cx="95548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    Random Forest performed the best with </a:t>
            </a:r>
            <a:r>
              <a:rPr kumimoji="0" lang="en-US" altLang="en-US" sz="1800" i="0" u="none" strike="noStrike" cap="none" normalizeH="0" baseline="0" dirty="0">
                <a:ln>
                  <a:noFill/>
                </a:ln>
                <a:solidFill>
                  <a:schemeClr val="tx1"/>
                </a:solidFill>
                <a:effectLst/>
                <a:latin typeface="Arial" panose="020B0604020202020204" pitchFamily="34" charset="0"/>
              </a:rPr>
              <a:t>74% accuracy </a:t>
            </a:r>
            <a:r>
              <a:rPr kumimoji="0" lang="en-US" altLang="en-US" sz="1800" b="0" i="0" u="none" strike="noStrike" cap="none" normalizeH="0" baseline="0" dirty="0">
                <a:ln>
                  <a:noFill/>
                </a:ln>
                <a:solidFill>
                  <a:schemeClr val="tx1"/>
                </a:solidFill>
                <a:effectLst/>
                <a:latin typeface="Arial" panose="020B0604020202020204" pitchFamily="34" charset="0"/>
              </a:rPr>
              <a:t>and </a:t>
            </a:r>
            <a:r>
              <a:rPr kumimoji="0" lang="en-US" altLang="en-US" sz="1800" i="0" u="none" strike="noStrike" cap="none" normalizeH="0" baseline="0" dirty="0">
                <a:ln>
                  <a:noFill/>
                </a:ln>
                <a:solidFill>
                  <a:schemeClr val="tx1"/>
                </a:solidFill>
                <a:effectLst/>
                <a:latin typeface="Arial" panose="020B0604020202020204" pitchFamily="34" charset="0"/>
              </a:rPr>
              <a:t>85% ROC-AUC</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2.    The model successfully identifies customers likely to respond </a:t>
            </a:r>
            <a:r>
              <a:rPr kumimoji="0" lang="en-US" altLang="en-US" sz="1800" i="0" u="none" strike="noStrike" cap="none" normalizeH="0" baseline="0" dirty="0">
                <a:ln>
                  <a:noFill/>
                </a:ln>
                <a:solidFill>
                  <a:schemeClr val="tx1"/>
                </a:solidFill>
                <a:effectLst/>
                <a:latin typeface="Arial" panose="020B0604020202020204" pitchFamily="34" charset="0"/>
              </a:rPr>
              <a:t>(high recall).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    Key drivers of response: </a:t>
            </a:r>
            <a:r>
              <a:rPr kumimoji="0" lang="en-US" altLang="en-US" sz="1800" i="0" u="none" strike="noStrike" cap="none" normalizeH="0" baseline="0" dirty="0">
                <a:ln>
                  <a:noFill/>
                </a:ln>
                <a:solidFill>
                  <a:schemeClr val="tx1"/>
                </a:solidFill>
                <a:effectLst/>
                <a:latin typeface="Arial" panose="020B0604020202020204" pitchFamily="34" charset="0"/>
              </a:rPr>
              <a:t>Vehicle Damage, Vehicle Age, Previously Insured, 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4.    The solution helps </a:t>
            </a:r>
            <a:r>
              <a:rPr kumimoji="0" lang="en-US" altLang="en-US" sz="1800" i="0" u="none" strike="noStrike" cap="none" normalizeH="0" baseline="0" dirty="0">
                <a:ln>
                  <a:noFill/>
                </a:ln>
                <a:solidFill>
                  <a:schemeClr val="tx1"/>
                </a:solidFill>
                <a:effectLst/>
                <a:latin typeface="Arial" panose="020B0604020202020204" pitchFamily="34" charset="0"/>
              </a:rPr>
              <a:t>improve targeting, increase conversions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i="0" u="none" strike="noStrike" cap="none" normalizeH="0" baseline="0" dirty="0">
                <a:ln>
                  <a:noFill/>
                </a:ln>
                <a:solidFill>
                  <a:schemeClr val="tx1"/>
                </a:solidFill>
                <a:effectLst/>
                <a:latin typeface="Arial" panose="020B0604020202020204" pitchFamily="34" charset="0"/>
              </a:rPr>
              <a:t>reduce marketing cost.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fontScale="90000"/>
          </a:bodyPr>
          <a:lstStyle/>
          <a:p>
            <a:r>
              <a:rPr lang="en-US" sz="3100" u="sng" dirty="0"/>
              <a:t>Conclusion &amp; Recommendation</a:t>
            </a:r>
            <a:br>
              <a:rPr lang="en-US" sz="2000" dirty="0"/>
            </a:br>
            <a:br>
              <a:rPr lang="en-US" sz="2000" dirty="0"/>
            </a:br>
            <a:br>
              <a:rPr lang="en-US" sz="2000" dirty="0"/>
            </a:br>
            <a:r>
              <a:rPr lang="en-US" sz="2000" dirty="0"/>
              <a:t>Conclusion:</a:t>
            </a:r>
            <a:br>
              <a:rPr lang="en-US" sz="2000" dirty="0"/>
            </a:br>
            <a:br>
              <a:rPr lang="en-US" sz="2000" dirty="0"/>
            </a:br>
            <a:r>
              <a:rPr lang="en-US" sz="2000" b="0" dirty="0"/>
              <a:t>The Random Forest model accurately predicts customer response to insurance offers.</a:t>
            </a:r>
            <a:br>
              <a:rPr lang="en-US" sz="2000" b="0" dirty="0"/>
            </a:br>
            <a:r>
              <a:rPr lang="en-US" sz="2000" b="0" dirty="0"/>
              <a:t>Important factors include Vehicle Damage, Vehicle Age, and Previous Insurance status.</a:t>
            </a:r>
            <a:br>
              <a:rPr lang="en-US" sz="2000" b="0" dirty="0"/>
            </a:br>
            <a:r>
              <a:rPr lang="en-US" sz="2000" b="0" dirty="0"/>
              <a:t>The solution improves targeted marketing and conversion rates.</a:t>
            </a:r>
            <a:br>
              <a:rPr lang="en-US" sz="2000" b="0" dirty="0"/>
            </a:br>
            <a:br>
              <a:rPr lang="en-US" sz="2000" dirty="0"/>
            </a:br>
            <a:r>
              <a:rPr lang="en-US" sz="2000"/>
              <a:t>Recommendations:</a:t>
            </a:r>
            <a:br>
              <a:rPr lang="en-US" sz="2000" dirty="0"/>
            </a:br>
            <a:br>
              <a:rPr lang="en-US" sz="2000" dirty="0"/>
            </a:br>
            <a:r>
              <a:rPr lang="en-US" sz="2000" b="0" dirty="0"/>
              <a:t>Focus campaigns on customers predicted as high responders.</a:t>
            </a:r>
            <a:br>
              <a:rPr lang="en-US" sz="2000" b="0" dirty="0"/>
            </a:br>
            <a:r>
              <a:rPr lang="en-US" sz="2000" b="0" dirty="0"/>
              <a:t>Prioritize those with vehicle damage and no prior insurance.</a:t>
            </a:r>
            <a:br>
              <a:rPr lang="en-US" sz="2000" b="0" dirty="0"/>
            </a:br>
            <a:r>
              <a:rPr lang="en-US" sz="2000" b="0" dirty="0"/>
              <a:t>Regularly update the model with new data for better performance.</a:t>
            </a:r>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p>
          <a:p>
            <a:pPr algn="r"/>
            <a:r>
              <a:rPr lang="en-US" sz="2000" dirty="0">
                <a:latin typeface="Calibri" panose="020F0502020204030204" pitchFamily="34" charset="0"/>
              </a:rPr>
              <a:t>Pratham Vernekar</a:t>
            </a:r>
            <a:endParaRPr lang="en-IN" sz="2000"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6977</TotalTime>
  <Words>501</Words>
  <Application>Microsoft Office PowerPoint</Application>
  <PresentationFormat>Widescreen</PresentationFormat>
  <Paragraphs>55</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Calibri</vt:lpstr>
      <vt:lpstr>BIA Template</vt:lpstr>
      <vt:lpstr>PowerPoint Presentation</vt:lpstr>
      <vt:lpstr>Problem Statement</vt:lpstr>
      <vt:lpstr>Business Questions</vt:lpstr>
      <vt:lpstr>Dataset Overview</vt:lpstr>
      <vt:lpstr>Methodology</vt:lpstr>
      <vt:lpstr>Results &amp; Insights</vt:lpstr>
      <vt:lpstr>Conclusion &amp; Recommendation   Conclusion:  The Random Forest model accurately predicts customer response to insurance offers. Important factors include Vehicle Damage, Vehicle Age, and Previous Insurance status. The solution improves targeted marketing and conversion rates.  Recommendations:  Focus campaigns on customers predicted as high responders. Prioritize those with vehicle damage and no prior insurance. Regularly update the model with new data for better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Ojas Vernekar</cp:lastModifiedBy>
  <cp:revision>2257</cp:revision>
  <dcterms:created xsi:type="dcterms:W3CDTF">2020-12-23T13:36:00Z</dcterms:created>
  <dcterms:modified xsi:type="dcterms:W3CDTF">2025-12-12T15:45:01Z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